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BOM 自校验工具</a:t>
            </a:r>
          </a:p>
          <a:p>
            <a:pPr algn="ctr">
              <a:defRPr sz="2000">
                <a:solidFill>
                  <a:srgbClr val="88AACC"/>
                </a:solidFill>
              </a:defRPr>
            </a:pPr>
            <a:r>
              <a:t>全五张表格校验规则、枚举值、联动逻辑与公式详解</a:t>
            </a:r>
          </a:p>
          <a:p>
            <a:pPr algn="ctr">
              <a:defRPr sz="1600">
                <a:solidFill>
                  <a:srgbClr val="88AACC"/>
                </a:solidFill>
              </a:defRPr>
            </a:pPr>
            <a:r>
              <a:t>技术校验规范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一、全局与跨表通用校验规则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99AA"/>
                </a:solidFill>
              </a:defRPr>
            </a:pPr>
            <a:r>
              <a:t>2/9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A43"/>
                </a:solidFill>
              </a:defRPr>
            </a:pPr>
            <a:r>
              <a:t>● 全局规则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43B53"/>
                </a:solidFill>
              </a:defRPr>
            </a:pPr>
            <a:r>
              <a:t>- 所有数字的小数位数不得超过 6 位，超出均报错。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43B53"/>
                </a:solidFill>
              </a:defRPr>
            </a:pPr>
            <a:r>
              <a:t>- 所有表格的「导入类型」仅允许填写枚举值：I, D, U。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A43"/>
                </a:solidFill>
              </a:defRPr>
            </a:pPr>
            <a:r>
              <a:t>● 跨表存在性校验 (以表一为核心)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63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43B53"/>
                </a:solidFill>
              </a:defRPr>
            </a:pPr>
            <a:r>
              <a:t>- 表一的「工程物料」必须全部出现在：表二「物料号」、表三「工程物料」、表四「制造物料」、表五「物料」。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290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43B53"/>
                </a:solidFill>
              </a:defRPr>
            </a:pPr>
            <a:r>
              <a:t>- 若表一在表二、三、四、五任何一处缺失，均报错。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9319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A43"/>
                </a:solidFill>
              </a:defRPr>
            </a:pPr>
            <a:r>
              <a:t>● 单表关键字段重复检测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343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43B53"/>
                </a:solidFill>
              </a:defRPr>
            </a:pPr>
            <a:r>
              <a:t>- 以下四表的对应主键字段禁止重复：表一「工程物料」、表二「物料号」、表四「制造物料」、表五「物料」。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7091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43B53"/>
                </a:solidFill>
              </a:defRPr>
            </a:pPr>
            <a:r>
              <a:t>- 表三「工程物料」允许重复（适配多子件场景）。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2120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A43"/>
                </a:solidFill>
              </a:defRPr>
            </a:pPr>
            <a:r>
              <a:t>● 项目经理匹配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6235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43B53"/>
                </a:solidFill>
              </a:defRPr>
            </a:pPr>
            <a:r>
              <a:t>- 表一与表二的「项目经理」必须完全一致。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43B53"/>
                </a:solidFill>
              </a:defRPr>
            </a:pPr>
            <a:r>
              <a:t>- 表一的「工程物料」必须与表二的「物料号」一一对应，其单位、物料类型、项目经理均必须完全一致。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A43"/>
                </a:solidFill>
              </a:defRPr>
            </a:pPr>
            <a:r>
              <a:t>● 时间逻辑与格式要求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9037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43B53"/>
                </a:solidFill>
              </a:defRPr>
            </a:pPr>
            <a:r>
              <a:t>- 表一的「生效时间」与表二的「生效时间」必须完全一致。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7269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43B53"/>
                </a:solidFill>
              </a:defRPr>
            </a:pPr>
            <a:r>
              <a:t>- 表一 (生效时间)、表三/表四 (生效日期 &amp; 失效日期) 的填写格式必须为：YYYY-MM-DD HH:MM:SS。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7635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43B53"/>
                </a:solidFill>
              </a:defRPr>
            </a:pPr>
            <a:r>
              <a:t>- 表三及表四中，「失效时间」必须严格晚于「生效时间」。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二、表一：BOM 物料清单</a:t>
            </a:r>
          </a:p>
          <a:p>
            <a:pPr>
              <a:defRPr sz="1400">
                <a:solidFill>
                  <a:srgbClr val="88AACC"/>
                </a:solidFill>
              </a:defRPr>
            </a:pPr>
            <a:r>
              <a:t>基础物料定义，作为全系统核心主数据。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99AA"/>
                </a:solidFill>
              </a:defRPr>
            </a:pPr>
            <a:r>
              <a:t>3/9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3718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200" b="1">
                <a:solidFill>
                  <a:srgbClr val="102A43"/>
                </a:solidFill>
              </a:defRPr>
            </a:pPr>
            <a:r>
              <a:t>● 必填字段:</a:t>
            </a:r>
          </a:p>
          <a:p>
            <a:pPr>
              <a:defRPr sz="1200">
                <a:solidFill>
                  <a:srgbClr val="243B53"/>
                </a:solidFill>
              </a:defRPr>
            </a:pPr>
            <a:r>
              <a:t>  - 导入类型, 工程物料, 说明 (禁双空格), 物料类型, 物料组</a:t>
            </a:r>
          </a:p>
          <a:p>
            <a:pPr>
              <a:defRPr sz="1200">
                <a:solidFill>
                  <a:srgbClr val="243B53"/>
                </a:solidFill>
              </a:defRPr>
            </a:pPr>
            <a:r>
              <a:t>  - 工程物料版本, 物料信号, 项目经理</a:t>
            </a:r>
          </a:p>
          <a:p>
            <a:pPr>
              <a:defRPr sz="1200">
                <a:solidFill>
                  <a:srgbClr val="243B53"/>
                </a:solidFill>
              </a:defRPr>
            </a:pPr>
            <a:r>
              <a:t>  - 生效时间 (YYYY-MM-DD HH:MM:SS), 单位, 重量单位</a:t>
            </a:r>
          </a:p>
          <a:p>
            <a:pPr>
              <a:spcBef>
                <a:spcPts val="600"/>
              </a:spcBef>
              <a:defRPr sz="1200" b="1">
                <a:solidFill>
                  <a:srgbClr val="102A43"/>
                </a:solidFill>
              </a:defRPr>
            </a:pPr>
          </a:p>
          <a:p>
            <a:pPr>
              <a:spcBef>
                <a:spcPts val="600"/>
              </a:spcBef>
              <a:defRPr sz="1200" b="1">
                <a:solidFill>
                  <a:srgbClr val="102A43"/>
                </a:solidFill>
              </a:defRPr>
            </a:pPr>
            <a:r>
              <a:t>● 禁止填写 (必须留空)</a:t>
            </a:r>
          </a:p>
          <a:p>
            <a:pPr>
              <a:defRPr sz="1200">
                <a:solidFill>
                  <a:srgbClr val="243B53"/>
                </a:solidFill>
              </a:defRPr>
            </a:pPr>
            <a:r>
              <a:t>  - 工程物料版本说明, 材料, 尺寸, 标准, 导入结果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75760" y="1371600"/>
            <a:ext cx="7528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200" b="1">
                <a:solidFill>
                  <a:srgbClr val="102A43"/>
                </a:solidFill>
              </a:defRPr>
            </a:pPr>
            <a:r>
              <a:t>● 跨表联动规则</a:t>
            </a:r>
          </a:p>
          <a:p>
            <a:pPr>
              <a:defRPr sz="1200">
                <a:solidFill>
                  <a:srgbClr val="243B53"/>
                </a:solidFill>
              </a:defRPr>
            </a:pPr>
            <a:r>
              <a:t>  - 【一致】表一单位/重单 与 表二对应物料必须一致。</a:t>
            </a:r>
          </a:p>
          <a:p>
            <a:pPr>
              <a:defRPr sz="1200">
                <a:solidFill>
                  <a:srgbClr val="243B53"/>
                </a:solidFill>
              </a:defRPr>
            </a:pPr>
            <a:r>
              <a:t>  - 【枚举】单位: PCS/MM; 重量单位: KG/G</a:t>
            </a:r>
          </a:p>
          <a:p>
            <a:pPr>
              <a:spcBef>
                <a:spcPts val="600"/>
              </a:spcBef>
              <a:defRPr sz="1200" b="1">
                <a:solidFill>
                  <a:srgbClr val="102A43"/>
                </a:solidFill>
              </a:defRPr>
            </a:pPr>
          </a:p>
          <a:p>
            <a:pPr>
              <a:spcBef>
                <a:spcPts val="600"/>
              </a:spcBef>
              <a:defRPr sz="1200" b="1">
                <a:solidFill>
                  <a:srgbClr val="102A43"/>
                </a:solidFill>
              </a:defRPr>
            </a:pPr>
            <a:r>
              <a:t>● 特殊逻辑与校验</a:t>
            </a:r>
          </a:p>
          <a:p>
            <a:pPr>
              <a:defRPr sz="1200">
                <a:solidFill>
                  <a:srgbClr val="243B53"/>
                </a:solidFill>
              </a:defRPr>
            </a:pPr>
            <a:r>
              <a:t>  - 【互斥联动】导入类型 = I &lt;-&gt; 物料信号 = GM。</a:t>
            </a:r>
          </a:p>
          <a:p>
            <a:pPr>
              <a:defRPr sz="1200">
                <a:solidFill>
                  <a:srgbClr val="243B53"/>
                </a:solidFill>
              </a:defRPr>
            </a:pPr>
            <a:r>
              <a:t>  - 【类型与组映射】类型 1/2/3 对应严格的物料组列表。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三、表二：物料通用数据和客户料号</a:t>
            </a:r>
          </a:p>
          <a:p>
            <a:pPr>
              <a:defRPr sz="1400">
                <a:solidFill>
                  <a:srgbClr val="88AACC"/>
                </a:solidFill>
              </a:defRPr>
            </a:pPr>
            <a:r>
              <a:t>通用数据配置与计划、订货数据设定。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99AA"/>
                </a:solidFill>
              </a:defRPr>
            </a:pPr>
            <a:r>
              <a:t>4/9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3718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200" b="1">
                <a:solidFill>
                  <a:srgbClr val="102A43"/>
                </a:solidFill>
              </a:defRPr>
            </a:pPr>
            <a:r>
              <a:t>● 必填字段:</a:t>
            </a:r>
          </a:p>
          <a:p>
            <a:pPr>
              <a:defRPr sz="1200">
                <a:solidFill>
                  <a:srgbClr val="243B53"/>
                </a:solidFill>
              </a:defRPr>
            </a:pPr>
            <a:r>
              <a:t>  - 导入类型, 物料号, 物料名称 (禁双空格), 物料类型</a:t>
            </a:r>
          </a:p>
          <a:p>
            <a:pPr>
              <a:defRPr sz="1200">
                <a:solidFill>
                  <a:srgbClr val="243B53"/>
                </a:solidFill>
              </a:defRPr>
            </a:pPr>
            <a:r>
              <a:t>  - 物料组, 单位集, 单位, 重量单位, 产品类型</a:t>
            </a:r>
          </a:p>
          <a:p>
            <a:pPr>
              <a:defRPr sz="1200">
                <a:solidFill>
                  <a:srgbClr val="243B53"/>
                </a:solidFill>
              </a:defRPr>
            </a:pPr>
            <a:r>
              <a:t>  - 产品分类, 物料信号, 商品代码, 项目经理</a:t>
            </a:r>
          </a:p>
          <a:p>
            <a:pPr>
              <a:defRPr sz="1200">
                <a:solidFill>
                  <a:srgbClr val="243B53"/>
                </a:solidFill>
              </a:defRPr>
            </a:pPr>
            <a:r>
              <a:t>  - 批次控制 (1 或 2), 保质期/呆滞期, 计划/订货仓库</a:t>
            </a:r>
          </a:p>
          <a:p>
            <a:pPr>
              <a:defRPr sz="1200">
                <a:solidFill>
                  <a:srgbClr val="243B53"/>
                </a:solidFill>
              </a:defRPr>
            </a:pPr>
            <a:r>
              <a:t>  - 计划数据计划员, 订货数据计划员, 订货数据车间计划员</a:t>
            </a:r>
          </a:p>
          <a:p>
            <a:pPr>
              <a:defRPr sz="1200">
                <a:solidFill>
                  <a:srgbClr val="243B53"/>
                </a:solidFill>
              </a:defRPr>
            </a:pPr>
            <a:r>
              <a:t>  - 工艺路线代码、物料代码系统、客户代码、业务伙伴物料代码 (同填或同空)</a:t>
            </a:r>
          </a:p>
          <a:p>
            <a:pPr>
              <a:spcBef>
                <a:spcPts val="600"/>
              </a:spcBef>
              <a:defRPr sz="1200" b="1">
                <a:solidFill>
                  <a:srgbClr val="102A43"/>
                </a:solidFill>
              </a:defRPr>
            </a:pPr>
          </a:p>
          <a:p>
            <a:pPr>
              <a:spcBef>
                <a:spcPts val="600"/>
              </a:spcBef>
              <a:defRPr sz="1200" b="1">
                <a:solidFill>
                  <a:srgbClr val="102A43"/>
                </a:solidFill>
              </a:defRPr>
            </a:pPr>
            <a:r>
              <a:t>● 禁止填写 (必须留空)</a:t>
            </a:r>
          </a:p>
          <a:p>
            <a:pPr>
              <a:defRPr sz="1200">
                <a:solidFill>
                  <a:srgbClr val="243B53"/>
                </a:solidFill>
              </a:defRPr>
            </a:pPr>
            <a:r>
              <a:t>  - 原材料, 标准, 大小, 备注 1/2/3, 客户物料开票名称</a:t>
            </a:r>
          </a:p>
          <a:p>
            <a:pPr>
              <a:defRPr sz="1200">
                <a:solidFill>
                  <a:srgbClr val="243B53"/>
                </a:solidFill>
              </a:defRPr>
            </a:pPr>
            <a:r>
              <a:t>  - 导入结果, 项目编号, 项目系列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75760" y="1371600"/>
            <a:ext cx="7528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200" b="1">
                <a:solidFill>
                  <a:srgbClr val="102A43"/>
                </a:solidFill>
              </a:defRPr>
            </a:pPr>
            <a:r>
              <a:t>● 跨表联动规则</a:t>
            </a:r>
          </a:p>
          <a:p>
            <a:pPr>
              <a:defRPr sz="1200">
                <a:solidFill>
                  <a:srgbClr val="243B53"/>
                </a:solidFill>
              </a:defRPr>
            </a:pPr>
            <a:r>
              <a:t>  - 【跨表一致】表二「工程物料」对应的表一「单位、重量单位」必须一致。</a:t>
            </a:r>
          </a:p>
          <a:p>
            <a:pPr>
              <a:spcBef>
                <a:spcPts val="600"/>
              </a:spcBef>
              <a:defRPr sz="1200" b="1">
                <a:solidFill>
                  <a:srgbClr val="102A43"/>
                </a:solidFill>
              </a:defRPr>
            </a:pPr>
          </a:p>
          <a:p>
            <a:pPr>
              <a:spcBef>
                <a:spcPts val="600"/>
              </a:spcBef>
              <a:defRPr sz="1200" b="1">
                <a:solidFill>
                  <a:srgbClr val="102A43"/>
                </a:solidFill>
              </a:defRPr>
            </a:pPr>
            <a:r>
              <a:t>● 特殊逻辑与校验</a:t>
            </a:r>
          </a:p>
          <a:p>
            <a:pPr>
              <a:defRPr sz="1200">
                <a:solidFill>
                  <a:srgbClr val="243B53"/>
                </a:solidFill>
              </a:defRPr>
            </a:pPr>
            <a:r>
              <a:t>  - 【组校验】工艺代码/系统/客户/伙伴 (4 个)：字段之间互相独立，不再强制同填。</a:t>
            </a:r>
          </a:p>
          <a:p>
            <a:pPr>
              <a:defRPr sz="1200">
                <a:solidFill>
                  <a:srgbClr val="243B53"/>
                </a:solidFill>
              </a:defRPr>
            </a:pPr>
            <a:r>
              <a:t>  - 【枚举】物料代码系统若填，必须为 CW。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四、表三：工程版本 BOM 审核</a:t>
            </a:r>
          </a:p>
          <a:p>
            <a:pPr>
              <a:defRPr sz="1400">
                <a:solidFill>
                  <a:srgbClr val="88AACC"/>
                </a:solidFill>
              </a:defRPr>
            </a:pPr>
            <a:r>
              <a:t>BOM 结构定义，重点管控废品率与虚拟件设置。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99AA"/>
                </a:solidFill>
              </a:defRPr>
            </a:pPr>
            <a:r>
              <a:t>5/9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3718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200" b="1">
                <a:solidFill>
                  <a:srgbClr val="102A43"/>
                </a:solidFill>
              </a:defRPr>
            </a:pPr>
            <a:r>
              <a:t>● 必填字段 (11 项):</a:t>
            </a:r>
          </a:p>
          <a:p>
            <a:pPr>
              <a:defRPr sz="1200">
                <a:solidFill>
                  <a:srgbClr val="243B53"/>
                </a:solidFill>
              </a:defRPr>
            </a:pPr>
            <a:r>
              <a:t>  - 导入类型, 工程物料, 版本, 类型, 组件</a:t>
            </a:r>
          </a:p>
          <a:p>
            <a:pPr>
              <a:defRPr sz="1200">
                <a:solidFill>
                  <a:srgbClr val="243B53"/>
                </a:solidFill>
              </a:defRPr>
            </a:pPr>
            <a:r>
              <a:t>  - 净数量, 是否虚拟, 子件仓库, 工序</a:t>
            </a:r>
          </a:p>
          <a:p>
            <a:pPr>
              <a:defRPr sz="1200">
                <a:solidFill>
                  <a:srgbClr val="243B53"/>
                </a:solidFill>
              </a:defRPr>
            </a:pPr>
            <a:r>
              <a:t>  - 生效时间、失效时间 (格式: YYYY-MM-DD HH:MM:SS)</a:t>
            </a:r>
          </a:p>
          <a:p>
            <a:pPr>
              <a:spcBef>
                <a:spcPts val="600"/>
              </a:spcBef>
              <a:defRPr sz="1200" b="1">
                <a:solidFill>
                  <a:srgbClr val="102A43"/>
                </a:solidFill>
              </a:defRPr>
            </a:pPr>
          </a:p>
          <a:p>
            <a:pPr>
              <a:spcBef>
                <a:spcPts val="600"/>
              </a:spcBef>
              <a:defRPr sz="1200" b="1">
                <a:solidFill>
                  <a:srgbClr val="102A43"/>
                </a:solidFill>
              </a:defRPr>
            </a:pPr>
            <a:r>
              <a:t>● 禁止填写 (必须留空)</a:t>
            </a:r>
          </a:p>
          <a:p>
            <a:pPr>
              <a:defRPr sz="1200">
                <a:solidFill>
                  <a:srgbClr val="243B53"/>
                </a:solidFill>
              </a:defRPr>
            </a:pPr>
            <a:r>
              <a:t>  - 导入结果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75760" y="1371600"/>
            <a:ext cx="7528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200" b="1">
                <a:solidFill>
                  <a:srgbClr val="102A43"/>
                </a:solidFill>
              </a:defRPr>
            </a:pPr>
            <a:r>
              <a:t>● 跨表联动规则</a:t>
            </a:r>
          </a:p>
          <a:p>
            <a:pPr>
              <a:defRPr sz="1200">
                <a:solidFill>
                  <a:srgbClr val="243B53"/>
                </a:solidFill>
              </a:defRPr>
            </a:pPr>
            <a:r>
              <a:t>  - 允许「工程物料」在表内重复填写（多子件共用一物料）。</a:t>
            </a:r>
          </a:p>
          <a:p>
            <a:pPr>
              <a:spcBef>
                <a:spcPts val="600"/>
              </a:spcBef>
              <a:defRPr sz="1200" b="1">
                <a:solidFill>
                  <a:srgbClr val="102A43"/>
                </a:solidFill>
              </a:defRPr>
            </a:pPr>
          </a:p>
          <a:p>
            <a:pPr>
              <a:spcBef>
                <a:spcPts val="600"/>
              </a:spcBef>
              <a:defRPr sz="1200" b="1">
                <a:solidFill>
                  <a:srgbClr val="102A43"/>
                </a:solidFill>
              </a:defRPr>
            </a:pPr>
            <a:r>
              <a:t>● 特殊逻辑与校验</a:t>
            </a:r>
          </a:p>
          <a:p>
            <a:pPr>
              <a:defRPr sz="1200">
                <a:solidFill>
                  <a:srgbClr val="243B53"/>
                </a:solidFill>
              </a:defRPr>
            </a:pPr>
            <a:r>
              <a:t>  - 【废品率 - 优先级1(禁止)】组件含 RR/FL/FLD 或为 PPM000100/0201/0300/0401 -&gt; 空白。</a:t>
            </a:r>
          </a:p>
          <a:p>
            <a:pPr>
              <a:defRPr sz="1200">
                <a:solidFill>
                  <a:srgbClr val="243B53"/>
                </a:solidFill>
              </a:defRPr>
            </a:pPr>
            <a:r>
              <a:t>  - 【废品率 - 优先级2(填3.5)】组件含 ABS/COC/PP/PC/PBT... 等。</a:t>
            </a:r>
          </a:p>
          <a:p>
            <a:pPr>
              <a:defRPr sz="1200">
                <a:solidFill>
                  <a:srgbClr val="243B53"/>
                </a:solidFill>
              </a:defRPr>
            </a:pPr>
            <a:r>
              <a:t>  - 【废品率 - 优先级3(填2.5)】工程物料或组件倒数两位为 P+数字 或 M+数字。</a:t>
            </a:r>
          </a:p>
          <a:p>
            <a:pPr>
              <a:defRPr sz="1200">
                <a:solidFill>
                  <a:srgbClr val="243B53"/>
                </a:solidFill>
              </a:defRPr>
            </a:pPr>
            <a:r>
              <a:t>  - 【废品率 - 优先级4(填1.5)】标准金属牌号，如 SUS301-055 样式。</a:t>
            </a:r>
          </a:p>
          <a:p>
            <a:pPr>
              <a:defRPr sz="1200">
                <a:solidFill>
                  <a:srgbClr val="243B53"/>
                </a:solidFill>
              </a:defRPr>
            </a:pPr>
            <a:r>
              <a:t>  - 【虚拟件规则】组件为 PPM000100 或 0300，必须为 1；其余均为 2。</a:t>
            </a:r>
          </a:p>
          <a:p>
            <a:pPr>
              <a:defRPr sz="1200">
                <a:solidFill>
                  <a:srgbClr val="243B53"/>
                </a:solidFill>
              </a:defRPr>
            </a:pPr>
            <a:r>
              <a:t>  - 【日期校验】失效时间必须严格晚于生效时间。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五、表四：物料工艺流程</a:t>
            </a:r>
          </a:p>
          <a:p>
            <a:pPr>
              <a:defRPr sz="1400">
                <a:solidFill>
                  <a:srgbClr val="88AACC"/>
                </a:solidFill>
              </a:defRPr>
            </a:pPr>
            <a:r>
              <a:t>工艺路线定义，强校验特征码与工艺描述的一致性。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99AA"/>
                </a:solidFill>
              </a:defRPr>
            </a:pPr>
            <a:r>
              <a:t>6/9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3718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200" b="1">
                <a:solidFill>
                  <a:srgbClr val="102A43"/>
                </a:solidFill>
              </a:defRPr>
            </a:pPr>
            <a:r>
              <a:t>● 必填字段 (13 项):</a:t>
            </a:r>
          </a:p>
          <a:p>
            <a:pPr>
              <a:defRPr sz="1200">
                <a:solidFill>
                  <a:srgbClr val="243B53"/>
                </a:solidFill>
              </a:defRPr>
            </a:pPr>
            <a:r>
              <a:t>  - 导入类型, 制造物料, 工艺流程, 工艺流程说明</a:t>
            </a:r>
          </a:p>
          <a:p>
            <a:pPr>
              <a:defRPr sz="1200">
                <a:solidFill>
                  <a:srgbClr val="243B53"/>
                </a:solidFill>
              </a:defRPr>
            </a:pPr>
            <a:r>
              <a:t>  - 工序, 任务, 工作中心, 机器, 计数点</a:t>
            </a:r>
          </a:p>
          <a:p>
            <a:pPr>
              <a:defRPr sz="1200">
                <a:solidFill>
                  <a:srgbClr val="243B53"/>
                </a:solidFill>
              </a:defRPr>
            </a:pPr>
            <a:r>
              <a:t>  - 生产周期 (分钟)</a:t>
            </a:r>
          </a:p>
          <a:p>
            <a:pPr>
              <a:defRPr sz="1200">
                <a:solidFill>
                  <a:srgbClr val="243B53"/>
                </a:solidFill>
              </a:defRPr>
            </a:pPr>
            <a:r>
              <a:t>  - 生效日期、失效日期 (格式: YYYY-MM-DD HH:MM:SS)</a:t>
            </a:r>
          </a:p>
          <a:p>
            <a:pPr>
              <a:defRPr sz="1200">
                <a:solidFill>
                  <a:srgbClr val="243B53"/>
                </a:solidFill>
              </a:defRPr>
            </a:pPr>
            <a:r>
              <a:t>  - 任务分类</a:t>
            </a:r>
          </a:p>
          <a:p>
            <a:pPr>
              <a:spcBef>
                <a:spcPts val="600"/>
              </a:spcBef>
              <a:defRPr sz="1200" b="1">
                <a:solidFill>
                  <a:srgbClr val="102A43"/>
                </a:solidFill>
              </a:defRPr>
            </a:pPr>
          </a:p>
          <a:p>
            <a:pPr>
              <a:spcBef>
                <a:spcPts val="600"/>
              </a:spcBef>
              <a:defRPr sz="1200" b="1">
                <a:solidFill>
                  <a:srgbClr val="102A43"/>
                </a:solidFill>
              </a:defRPr>
            </a:pPr>
            <a:r>
              <a:t>● 禁止填写 (必须留空)</a:t>
            </a:r>
          </a:p>
          <a:p>
            <a:pPr>
              <a:defRPr sz="1200">
                <a:solidFill>
                  <a:srgbClr val="243B53"/>
                </a:solidFill>
              </a:defRPr>
            </a:pPr>
            <a:r>
              <a:t>  - 导入结果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75760" y="1371600"/>
            <a:ext cx="7528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200" b="1">
                <a:solidFill>
                  <a:srgbClr val="102A43"/>
                </a:solidFill>
              </a:defRPr>
            </a:pPr>
            <a:r>
              <a:t>● 特殊逻辑与校验</a:t>
            </a:r>
          </a:p>
          <a:p>
            <a:pPr>
              <a:defRPr sz="1200">
                <a:solidFill>
                  <a:srgbClr val="243B53"/>
                </a:solidFill>
              </a:defRPr>
            </a:pPr>
            <a:r>
              <a:t>  - 【固定值字段】「工艺流程」必须固定填写 A10。</a:t>
            </a:r>
          </a:p>
          <a:p>
            <a:pPr>
              <a:defRPr sz="1200">
                <a:solidFill>
                  <a:srgbClr val="243B53"/>
                </a:solidFill>
              </a:defRPr>
            </a:pPr>
            <a:r>
              <a:t>  - 【特征码匹配】物料倒数第二位特征码 (S/P/M...) 必须与「工艺流程说明」包含对应词。</a:t>
            </a:r>
          </a:p>
          <a:p>
            <a:pPr>
              <a:defRPr sz="1200">
                <a:solidFill>
                  <a:srgbClr val="243B53"/>
                </a:solidFill>
              </a:defRPr>
            </a:pPr>
            <a:r>
              <a:t>  - 【工作中心校验】工作中心 == 机器代码。</a:t>
            </a:r>
          </a:p>
          <a:p>
            <a:pPr>
              <a:defRPr sz="1200">
                <a:solidFill>
                  <a:srgbClr val="243B53"/>
                </a:solidFill>
              </a:defRPr>
            </a:pPr>
            <a:r>
              <a:t>  - 【枚举】计数点 只能填写 1 或 2。</a:t>
            </a:r>
          </a:p>
          <a:p>
            <a:pPr>
              <a:defRPr sz="1200">
                <a:solidFill>
                  <a:srgbClr val="243B53"/>
                </a:solidFill>
              </a:defRPr>
            </a:pPr>
            <a:r>
              <a:t>  - 【日期校验】失效日期必须严格晚于生效日期。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六、表五：物料扩展属性</a:t>
            </a:r>
          </a:p>
          <a:p>
            <a:pPr>
              <a:defRPr sz="1400">
                <a:solidFill>
                  <a:srgbClr val="88AACC"/>
                </a:solidFill>
              </a:defRPr>
            </a:pPr>
            <a:r>
              <a:t>扩展数据，核心是物料特征码 S/M/P 联动逻辑。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99AA"/>
                </a:solidFill>
              </a:defRPr>
            </a:pPr>
            <a:r>
              <a:t>7/9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3718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200" b="1">
                <a:solidFill>
                  <a:srgbClr val="102A43"/>
                </a:solidFill>
              </a:defRPr>
            </a:pPr>
            <a:r>
              <a:t>● 必填字段 (7 项):</a:t>
            </a:r>
          </a:p>
          <a:p>
            <a:pPr>
              <a:defRPr sz="1200">
                <a:solidFill>
                  <a:srgbClr val="243B53"/>
                </a:solidFill>
              </a:defRPr>
            </a:pPr>
            <a:r>
              <a:t>  - 导入类型, 物料, 产品行业，行业细分</a:t>
            </a:r>
          </a:p>
          <a:p>
            <a:pPr>
              <a:defRPr sz="1200">
                <a:solidFill>
                  <a:srgbClr val="243B53"/>
                </a:solidFill>
              </a:defRPr>
            </a:pPr>
            <a:r>
              <a:t>  - 产品理论重量, 产品应用，项目名称</a:t>
            </a:r>
          </a:p>
          <a:p>
            <a:pPr>
              <a:spcBef>
                <a:spcPts val="600"/>
              </a:spcBef>
              <a:defRPr sz="1200" b="1">
                <a:solidFill>
                  <a:srgbClr val="102A43"/>
                </a:solidFill>
              </a:defRPr>
            </a:pPr>
          </a:p>
          <a:p>
            <a:pPr>
              <a:spcBef>
                <a:spcPts val="600"/>
              </a:spcBef>
              <a:defRPr sz="1200" b="1">
                <a:solidFill>
                  <a:srgbClr val="102A43"/>
                </a:solidFill>
              </a:defRPr>
            </a:pPr>
            <a:r>
              <a:t>● 禁止填写 (必须留空)</a:t>
            </a:r>
          </a:p>
          <a:p>
            <a:pPr>
              <a:defRPr sz="1200">
                <a:solidFill>
                  <a:srgbClr val="243B53"/>
                </a:solidFill>
              </a:defRPr>
            </a:pPr>
            <a:r>
              <a:t>  - 物料开票名称, HS 编码, 密度, 料宽, 用金量</a:t>
            </a:r>
          </a:p>
          <a:p>
            <a:pPr>
              <a:defRPr sz="1200">
                <a:solidFill>
                  <a:srgbClr val="243B53"/>
                </a:solidFill>
              </a:defRPr>
            </a:pPr>
            <a:r>
              <a:t>  - 机台效率, 模具原因, 麦途物料号, 导入结果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75760" y="1371600"/>
            <a:ext cx="7528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200" b="1">
                <a:solidFill>
                  <a:srgbClr val="102A43"/>
                </a:solidFill>
              </a:defRPr>
            </a:pPr>
            <a:r>
              <a:t>● 特殊逻辑与校验</a:t>
            </a:r>
          </a:p>
          <a:p>
            <a:pPr>
              <a:defRPr sz="1200">
                <a:solidFill>
                  <a:srgbClr val="243B53"/>
                </a:solidFill>
              </a:defRPr>
            </a:pPr>
            <a:r>
              <a:t>  - 【跨表存在】表一所有物料必须出现在表五「物料」列。</a:t>
            </a:r>
          </a:p>
          <a:p>
            <a:pPr>
              <a:defRPr sz="1200">
                <a:solidFill>
                  <a:srgbClr val="243B53"/>
                </a:solidFill>
              </a:defRPr>
            </a:pPr>
            <a:r>
              <a:t>  - 【联动1】SPM 有值 -&gt; 步距必填。 联动2：电镀方式/类型必须同填。</a:t>
            </a:r>
          </a:p>
          <a:p>
            <a:pPr>
              <a:defRPr sz="1200">
                <a:solidFill>
                  <a:srgbClr val="243B53"/>
                </a:solidFill>
              </a:defRPr>
            </a:pPr>
            <a:r>
              <a:t>  - 【行业匹配】「产品行业」与「行业细分」开头的 3 位字符必须一致。</a:t>
            </a:r>
          </a:p>
          <a:p>
            <a:pPr>
              <a:defRPr sz="1200">
                <a:solidFill>
                  <a:srgbClr val="243B53"/>
                </a:solidFill>
              </a:defRPr>
            </a:pPr>
            <a:r>
              <a:t>  - 【特征码 S】必填: SPM, PIN, 模号(含 CM), 理论边角料。禁填: 注塑相关。</a:t>
            </a:r>
          </a:p>
          <a:p>
            <a:pPr>
              <a:defRPr sz="1200">
                <a:solidFill>
                  <a:srgbClr val="243B53"/>
                </a:solidFill>
              </a:defRPr>
            </a:pPr>
            <a:r>
              <a:t>  - 【特征码 M】必填: 模穴数, 注塑周期, 重量等。禁填: SPM。</a:t>
            </a:r>
          </a:p>
          <a:p>
            <a:pPr>
              <a:defRPr sz="1200">
                <a:solidFill>
                  <a:srgbClr val="243B53"/>
                </a:solidFill>
              </a:defRPr>
            </a:pPr>
            <a:r>
              <a:t>  - 【特征码 P】必填: 电镀产速, 电镀方式, 电镀类型。禁填: 模具/注塑。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七、跨表数学公式 (表四 &lt;-&gt; 表五)</a:t>
            </a:r>
          </a:p>
          <a:p>
            <a:pPr>
              <a:defRPr sz="1400">
                <a:solidFill>
                  <a:srgbClr val="88AACC"/>
                </a:solidFill>
              </a:defRPr>
            </a:pPr>
            <a:r>
              <a:t>生产周期与其他扩展属性的精确匹配公式。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99AA"/>
                </a:solidFill>
              </a:defRPr>
            </a:pPr>
            <a:r>
              <a:t>8/9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247120" cy="1280160"/>
          </a:xfrm>
          <a:prstGeom prst="rect">
            <a:avLst/>
          </a:prstGeom>
          <a:solidFill>
            <a:srgbClr val="F0F4F8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2A43"/>
                </a:solidFill>
              </a:defRPr>
            </a:pPr>
            <a:r>
              <a:t>1. 冲压工艺周期公式</a:t>
            </a:r>
          </a:p>
          <a:p>
            <a:pPr>
              <a:spcBef>
                <a:spcPts val="400"/>
              </a:spcBef>
              <a:defRPr sz="1300">
                <a:solidFill>
                  <a:srgbClr val="243B53"/>
                </a:solidFill>
              </a:defRPr>
            </a:pPr>
            <a:r>
              <a:t>校验前提：表四工艺流程包含“冲压”且 SPM 已填。</a:t>
            </a:r>
            <a:br/>
            <a:r>
              <a:t>校验规则：( 生产周期(分钟) / 1.2 ) × SPM 必须等于 1。</a:t>
            </a:r>
            <a:br/>
            <a:r>
              <a:t>说明：校验生产节拍与标准周期是否匹配。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971800"/>
            <a:ext cx="11247120" cy="1280160"/>
          </a:xfrm>
          <a:prstGeom prst="rect">
            <a:avLst/>
          </a:prstGeom>
          <a:solidFill>
            <a:srgbClr val="F0F4F8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06324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2A43"/>
                </a:solidFill>
              </a:defRPr>
            </a:pPr>
            <a:r>
              <a:t>2. 注塑工艺周期公式</a:t>
            </a:r>
          </a:p>
          <a:p>
            <a:pPr>
              <a:spcBef>
                <a:spcPts val="400"/>
              </a:spcBef>
              <a:defRPr sz="1300">
                <a:solidFill>
                  <a:srgbClr val="243B53"/>
                </a:solidFill>
              </a:defRPr>
            </a:pPr>
            <a:r>
              <a:t>校验前提：表四工艺流程包含“成型”或“注塑”。</a:t>
            </a:r>
            <a:br/>
            <a:r>
              <a:t>校验规则：表四「生产周期」 ≈ ( 注塑周期 / 模穴数 / 60 ) × 1.1。</a:t>
            </a:r>
            <a:br/>
            <a:r>
              <a:t>说明：根据注塑时间和一模出穴数倒推生产周期，允许极小误差。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480560"/>
            <a:ext cx="11247120" cy="1280160"/>
          </a:xfrm>
          <a:prstGeom prst="rect">
            <a:avLst/>
          </a:prstGeom>
          <a:solidFill>
            <a:srgbClr val="F0F4F8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5720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2A43"/>
                </a:solidFill>
              </a:defRPr>
            </a:pPr>
            <a:r>
              <a:t>3. 电镀工艺周期公式</a:t>
            </a:r>
          </a:p>
          <a:p>
            <a:pPr>
              <a:spcBef>
                <a:spcPts val="400"/>
              </a:spcBef>
              <a:defRPr sz="1300">
                <a:solidFill>
                  <a:srgbClr val="243B53"/>
                </a:solidFill>
              </a:defRPr>
            </a:pPr>
            <a:r>
              <a:t>校验前提：表四工艺流程包含“电镀”。</a:t>
            </a:r>
            <a:br/>
            <a:r>
              <a:t>校验规则：表四「生产周期」 ≈ [ 1 / ( 电镀产速 × 1000 / 步距 ) ] × 1.05。</a:t>
            </a:r>
            <a:br/>
            <a:r>
              <a:t>说明：基于电镀速度和步距计算生产周期，仅允许极小误差 (5% 或 0.01 分钟)。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八、新增数据质量与防呆校验</a:t>
            </a:r>
          </a:p>
          <a:p>
            <a:pPr>
              <a:defRPr sz="1400">
                <a:solidFill>
                  <a:srgbClr val="88AACC"/>
                </a:solidFill>
              </a:defRPr>
            </a:pPr>
            <a:r>
              <a:t>提升数据规范性与系统稳定性的强化规则。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99AA"/>
                </a:solidFill>
              </a:defRPr>
            </a:pPr>
            <a:r>
              <a:t>9/9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47120" cy="868680"/>
          </a:xfrm>
          <a:prstGeom prst="rect">
            <a:avLst/>
          </a:prstGeom>
          <a:solidFill>
            <a:srgbClr val="F0F4F8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A43"/>
                </a:solidFill>
              </a:defRPr>
            </a:pPr>
            <a:r>
              <a:t>1. 防死循环逻辑 (表三)</a:t>
            </a:r>
          </a:p>
          <a:p>
            <a:pPr>
              <a:spcBef>
                <a:spcPts val="400"/>
              </a:spcBef>
              <a:defRPr sz="1300">
                <a:solidFill>
                  <a:srgbClr val="243B53"/>
                </a:solidFill>
              </a:defRPr>
            </a:pPr>
            <a:r>
              <a:t>同一行中，父级「工程物料」严禁与子级「组件」完全相同，防止系统展开死循环。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11247120" cy="868680"/>
          </a:xfrm>
          <a:prstGeom prst="rect">
            <a:avLst/>
          </a:prstGeom>
          <a:solidFill>
            <a:srgbClr val="F0F4F8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A43"/>
                </a:solidFill>
              </a:defRPr>
            </a:pPr>
            <a:r>
              <a:t>2. 净数量特殊逻辑 (表三)</a:t>
            </a:r>
          </a:p>
          <a:p>
            <a:pPr>
              <a:spcBef>
                <a:spcPts val="400"/>
              </a:spcBef>
              <a:defRPr sz="1300">
                <a:solidFill>
                  <a:srgbClr val="243B53"/>
                </a:solidFill>
              </a:defRPr>
            </a:pPr>
            <a:r>
              <a:t>• 一般物料：净数量必须 &gt; 0。</a:t>
            </a:r>
            <a:br/>
            <a:r>
              <a:t>• **特例**：组件代码末尾为 **FL / FLD** 或包含连续 **RR** 时，净数量**必须为负数** (如退料)。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200400"/>
            <a:ext cx="11247120" cy="868680"/>
          </a:xfrm>
          <a:prstGeom prst="rect">
            <a:avLst/>
          </a:prstGeom>
          <a:solidFill>
            <a:srgbClr val="F0F4F8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2918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A43"/>
                </a:solidFill>
              </a:defRPr>
            </a:pPr>
            <a:r>
              <a:t>3. 防重复工序 (表四)</a:t>
            </a:r>
          </a:p>
          <a:p>
            <a:pPr>
              <a:spcBef>
                <a:spcPts val="400"/>
              </a:spcBef>
              <a:defRPr sz="1300">
                <a:solidFill>
                  <a:srgbClr val="243B53"/>
                </a:solidFill>
              </a:defRPr>
            </a:pPr>
            <a:r>
              <a:t>同一个「制造物料」下，不允许存在重复的工序编号，确保工艺路线唯一。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114800"/>
            <a:ext cx="11247120" cy="868680"/>
          </a:xfrm>
          <a:prstGeom prst="rect">
            <a:avLst/>
          </a:prstGeom>
          <a:solidFill>
            <a:srgbClr val="F0F4F8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2062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A43"/>
                </a:solidFill>
              </a:defRPr>
            </a:pPr>
            <a:r>
              <a:t>4. 废品率与生产周期限制</a:t>
            </a:r>
          </a:p>
          <a:p>
            <a:pPr>
              <a:spcBef>
                <a:spcPts val="400"/>
              </a:spcBef>
              <a:defRPr sz="1300">
                <a:solidFill>
                  <a:srgbClr val="243B53"/>
                </a:solidFill>
              </a:defRPr>
            </a:pPr>
            <a:r>
              <a:t>• 表三废品率：禁止输入负数。</a:t>
            </a:r>
            <a:br/>
            <a:r>
              <a:t>• 表四生产周期：必须 &gt; 0。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029200"/>
            <a:ext cx="11247120" cy="868680"/>
          </a:xfrm>
          <a:prstGeom prst="rect">
            <a:avLst/>
          </a:prstGeom>
          <a:solidFill>
            <a:srgbClr val="F0F4F8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1206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A43"/>
                </a:solidFill>
              </a:defRPr>
            </a:pPr>
            <a:r>
              <a:t>5. 表五数值范围与逻辑</a:t>
            </a:r>
          </a:p>
          <a:p>
            <a:pPr>
              <a:spcBef>
                <a:spcPts val="400"/>
              </a:spcBef>
              <a:defRPr sz="1300">
                <a:solidFill>
                  <a:srgbClr val="243B53"/>
                </a:solidFill>
              </a:defRPr>
            </a:pPr>
            <a:r>
              <a:t>• SPM、理论重量：必须 &gt; 0。</a:t>
            </a:r>
            <a:br/>
            <a:r>
              <a:t>• 回料百分比：必须在 0~100 之间。</a:t>
            </a:r>
            <a:br/>
            <a:r>
              <a:t>• 模穴数：必须是正整数。</a:t>
            </a:r>
            <a:br/>
            <a:r>
              <a:t>• **重量约束**：产品塑胶重量 不能超过 产品理论重量。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943600"/>
            <a:ext cx="11247120" cy="868680"/>
          </a:xfrm>
          <a:prstGeom prst="rect">
            <a:avLst/>
          </a:prstGeom>
          <a:solidFill>
            <a:srgbClr val="F0F4F8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60350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A43"/>
                </a:solidFill>
              </a:defRPr>
            </a:pPr>
            <a:r>
              <a:t>6. 表二关联校验</a:t>
            </a:r>
          </a:p>
          <a:p>
            <a:pPr>
              <a:spcBef>
                <a:spcPts val="400"/>
              </a:spcBef>
              <a:defRPr sz="1300">
                <a:solidFill>
                  <a:srgbClr val="243B53"/>
                </a:solidFill>
              </a:defRPr>
            </a:pPr>
            <a:r>
              <a:t>• 若填写了「业务伙伴物料代码」，则「客户代码」必须同时填写。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858000"/>
            <a:ext cx="11247120" cy="868680"/>
          </a:xfrm>
          <a:prstGeom prst="rect">
            <a:avLst/>
          </a:prstGeom>
          <a:solidFill>
            <a:srgbClr val="F0F4F8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9494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A43"/>
                </a:solidFill>
              </a:defRPr>
            </a:pPr>
            <a:r>
              <a:t>7. 表三结构组合唯一性</a:t>
            </a:r>
          </a:p>
          <a:p>
            <a:pPr>
              <a:spcBef>
                <a:spcPts val="400"/>
              </a:spcBef>
              <a:defRPr sz="1300">
                <a:solidFill>
                  <a:srgbClr val="243B53"/>
                </a:solidFill>
              </a:defRPr>
            </a:pPr>
            <a:r>
              <a:t>• BOM 结构中，「工程物料」与「组件」的配对该表中必须是唯一的，防止重复粘贴导致冗余。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7772400"/>
            <a:ext cx="11247120" cy="868680"/>
          </a:xfrm>
          <a:prstGeom prst="rect">
            <a:avLst/>
          </a:prstGeom>
          <a:solidFill>
            <a:srgbClr val="F0F4F8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78638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A43"/>
                </a:solidFill>
              </a:defRPr>
            </a:pPr>
            <a:r>
              <a:t>8. 外协/X类物料免填规则</a:t>
            </a:r>
          </a:p>
          <a:p>
            <a:pPr>
              <a:spcBef>
                <a:spcPts val="400"/>
              </a:spcBef>
              <a:defRPr sz="1300">
                <a:solidFill>
                  <a:srgbClr val="243B53"/>
                </a:solidFill>
              </a:defRPr>
            </a:pPr>
            <a:r>
              <a:t>• 表二：物料名称含「外协」或物料号含 -X → 保质期/呆滞期免填。</a:t>
            </a:r>
            <a:br/>
            <a:r>
              <a:t>• 表四：工艺流程说明含「外协」→ 机器免填。</a:t>
            </a:r>
            <a:br/>
            <a:r>
              <a:t>• 表五：物料含 -X → 产品理论重量免填。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8686800"/>
            <a:ext cx="11247120" cy="868680"/>
          </a:xfrm>
          <a:prstGeom prst="rect">
            <a:avLst/>
          </a:prstGeom>
          <a:solidFill>
            <a:srgbClr val="F0F4F8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87782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A43"/>
                </a:solidFill>
              </a:defRPr>
            </a:pPr>
            <a:r>
              <a:t>9. 表四外协工艺与T4任务绑定</a:t>
            </a:r>
          </a:p>
          <a:p>
            <a:pPr>
              <a:spcBef>
                <a:spcPts val="400"/>
              </a:spcBef>
              <a:defRPr sz="1300">
                <a:solidFill>
                  <a:srgbClr val="243B53"/>
                </a:solidFill>
              </a:defRPr>
            </a:pPr>
            <a:r>
              <a:t>• 工艺流程说明含「外协」 ⇔ 任务前两位必须为 T4。</a:t>
            </a:r>
            <a:br/>
            <a:r>
              <a:t>• 仅满足一方而另一方不满足时均报错。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